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326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A1326"/>
                </a:solidFill>
                <a:latin typeface="Calibri"/>
              </a:rPr>
              <a:t>Year 3 projected revenue mix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11D74"/>
              </a:solidFill>
              <a:effectLst/>
            </c:spPr>
          </c:dPt>
          <c:dPt>
            <c:idx val="1"/>
            <c:bubble3D val="0"/>
            <c:spPr>
              <a:solidFill>
                <a:srgbClr val="6A2C91"/>
              </a:solidFill>
              <a:effectLst/>
            </c:spPr>
          </c:dPt>
          <c:dPt>
            <c:idx val="2"/>
            <c:bubble3D val="0"/>
            <c:spPr>
              <a:solidFill>
                <a:srgbClr val="F5B5D2"/>
              </a:solidFill>
              <a:effectLst/>
            </c:spPr>
          </c:dPt>
          <c:dPt>
            <c:idx val="3"/>
            <c:bubble3D val="0"/>
            <c:spPr>
              <a:solidFill>
                <a:srgbClr val="A89B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Booking fees</c:v>
                </c:pt>
                <c:pt idx="1">
                  <c:v>Pro host subscription</c:v>
                </c:pt>
                <c:pt idx="2">
                  <c:v>Damage protection</c:v>
                </c:pt>
                <c:pt idx="3">
                  <c:v>Featured placement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82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32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E11D74"/>
            </a:solidFill>
            <a:effectLst/>
          </c:spPr>
          <c:invertIfNegative val="0"/>
          <c:dLbls>
            <c:numFmt formatCode="$#,##0.0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3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</c:v>
                </c:pt>
                <c:pt idx="1">
                  <c:v>4.8</c:v>
                </c:pt>
                <c:pt idx="2">
                  <c:v>18</c:v>
                </c:pt>
                <c:pt idx="3">
                  <c:v>52</c:v>
                </c:pt>
                <c:pt idx="4">
                  <c:v>118</c:v>
                </c:pt>
              </c:numCache>
            </c:numRef>
          </c:val>
        </c:ser>
        <c:dLbls>
          <c:numFmt formatCode="$#,##0.0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A13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5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1828800"/>
            <a:ext cx="7315200" cy="7315200"/>
          </a:xfrm>
          <a:prstGeom prst="ellipse">
            <a:avLst/>
          </a:prstGeom>
          <a:solidFill>
            <a:srgbClr val="E11D74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743200"/>
            <a:ext cx="8229600" cy="8229600"/>
          </a:xfrm>
          <a:prstGeom prst="ellipse">
            <a:avLst/>
          </a:prstGeom>
          <a:solidFill>
            <a:srgbClr val="6A2C91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914400"/>
            <a:ext cx="777240" cy="777240"/>
          </a:xfrm>
          <a:prstGeom prst="ellipse">
            <a:avLst/>
          </a:prstGeom>
          <a:solidFill>
            <a:srgbClr val="E11D7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914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82880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VAYTOVEN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200" kern="0" dirty="0">
                <a:solidFill>
                  <a:srgbClr val="F5B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place</a:t>
            </a:r>
            <a:endParaRPr lang="en-US" sz="7600" dirty="0"/>
          </a:p>
        </p:txBody>
      </p:sp>
      <p:sp>
        <p:nvSpPr>
          <p:cNvPr id="9" name="Text 7"/>
          <p:cNvSpPr/>
          <p:nvPr/>
        </p:nvSpPr>
        <p:spPr>
          <a:xfrm>
            <a:off x="914400" y="36118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i="1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anywhere.</a:t>
            </a:r>
            <a:endParaRPr lang="en-US" sz="7600" dirty="0"/>
          </a:p>
        </p:txBody>
      </p:sp>
      <p:sp>
        <p:nvSpPr>
          <p:cNvPr id="10" name="Text 8"/>
          <p:cNvSpPr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B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trust-first vacation rental marketplace.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6217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A8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 ·  Series Seed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445752" y="6217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A8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Travelers and hosts are losing trust in the big platforms.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657600" cy="3657600"/>
          </a:xfrm>
          <a:prstGeom prst="rect">
            <a:avLst/>
          </a:prstGeom>
          <a:solidFill>
            <a:srgbClr val="FAF7FB"/>
          </a:solidFill>
          <a:ln w="12700">
            <a:solidFill>
              <a:srgbClr val="EEE5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774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0175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914400" y="38862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travelers using a top-3 platform last year reported a listing-mismatch issue.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5349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Skift Research, 2024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89120" y="2103120"/>
            <a:ext cx="3657600" cy="3657600"/>
          </a:xfrm>
          <a:prstGeom prst="rect">
            <a:avLst/>
          </a:prstGeom>
          <a:solidFill>
            <a:srgbClr val="FAF7FB"/>
          </a:solidFill>
          <a:ln w="12700">
            <a:solidFill>
              <a:srgbClr val="EEE5F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37744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0" y="30175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$1B+</a:t>
            </a:r>
            <a:endParaRPr lang="en-US" sz="4400" dirty="0"/>
          </a:p>
        </p:txBody>
      </p:sp>
      <p:sp>
        <p:nvSpPr>
          <p:cNvPr id="12" name="Text 8"/>
          <p:cNvSpPr/>
          <p:nvPr/>
        </p:nvSpPr>
        <p:spPr>
          <a:xfrm>
            <a:off x="4754880" y="38862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host fees lost annually to 14–16% take rates and 7-day payout holds.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754880" y="5349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AirDNA + internal analysis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8229600" y="2103120"/>
            <a:ext cx="3657600" cy="3657600"/>
          </a:xfrm>
          <a:prstGeom prst="rect">
            <a:avLst/>
          </a:prstGeom>
          <a:solidFill>
            <a:srgbClr val="FAF7FB"/>
          </a:solidFill>
          <a:ln w="12700">
            <a:solidFill>
              <a:srgbClr val="EEE5F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37744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95360" y="30175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</a:t>
            </a:r>
            <a:endParaRPr lang="en-US" sz="4400" dirty="0"/>
          </a:p>
        </p:txBody>
      </p:sp>
      <p:sp>
        <p:nvSpPr>
          <p:cNvPr id="17" name="Text 12"/>
          <p:cNvSpPr/>
          <p:nvPr/>
        </p:nvSpPr>
        <p:spPr>
          <a:xfrm>
            <a:off x="8595360" y="38862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host wait time for support response on the largest platform during peak season.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595360" y="5349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RealHosts.org survey, 2024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A2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eroded supply quality. Then it eroded demand. Both sides are looking for an alternative.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A8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curated, trust-first marketplace for short-term stays.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A2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Vaytoven keeps supply small enough to verify, fees low enough to recruit hosts, and support fast enough to keep travelers coming back.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94360" cy="594360"/>
          </a:xfrm>
          <a:prstGeom prst="ellipse">
            <a:avLst/>
          </a:prstGeom>
          <a:solidFill>
            <a:srgbClr val="FCE4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86207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788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host verified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25880" y="32461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verification + manual first-listing review. No drive-by inventory.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2743200"/>
            <a:ext cx="594360" cy="594360"/>
          </a:xfrm>
          <a:prstGeom prst="ellipse">
            <a:avLst/>
          </a:prstGeom>
          <a:solidFill>
            <a:srgbClr val="FCE4F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286207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95160" y="2788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Payouts in 24 hours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995160" y="324612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competitors hold funds 5–7 days. Built on Stripe Connect Express.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4526280"/>
            <a:ext cx="594360" cy="594360"/>
          </a:xfrm>
          <a:prstGeom prst="ellipse">
            <a:avLst/>
          </a:prstGeom>
          <a:solidFill>
            <a:srgbClr val="FCE4F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64515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4572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host take rate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325880" y="50292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to hosts vs. 14–16% on legacy platforms. The take rate is the moat.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217920" y="4526280"/>
            <a:ext cx="594360" cy="594360"/>
          </a:xfrm>
          <a:prstGeom prst="ellipse">
            <a:avLst/>
          </a:prstGeom>
          <a:solidFill>
            <a:srgbClr val="FCE4F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4645152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95160" y="4572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human support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6995160" y="50292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4-minute average response. Refund authority on the front line.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A8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MARKET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$112B market growing past $200B by 2030.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949440" cy="4206240"/>
          </a:xfrm>
          <a:prstGeom prst="rect">
            <a:avLst/>
          </a:prstGeom>
          <a:solidFill>
            <a:srgbClr val="FCE4F1">
              <a:alpha val="40000"/>
            </a:srgbClr>
          </a:solidFill>
          <a:ln w="12700">
            <a:solidFill>
              <a:srgbClr val="E11D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A2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6A2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$112B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short-term rental gross booking value (2025).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63040" y="3657600"/>
            <a:ext cx="5120640" cy="1097280"/>
          </a:xfrm>
          <a:prstGeom prst="rect">
            <a:avLst/>
          </a:prstGeom>
          <a:solidFill>
            <a:srgbClr val="6A2C91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B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40233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$28B  ·  U.S. short-term rentals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194560" y="4937760"/>
            <a:ext cx="3657600" cy="868680"/>
          </a:xfrm>
          <a:prstGeom prst="rect">
            <a:avLst/>
          </a:prstGeom>
          <a:solidFill>
            <a:srgbClr val="E11D74"/>
          </a:solidFill>
          <a:ln/>
        </p:spPr>
      </p:sp>
      <p:sp>
        <p:nvSpPr>
          <p:cNvPr id="12" name="Text 10"/>
          <p:cNvSpPr/>
          <p:nvPr/>
        </p:nvSpPr>
        <p:spPr>
          <a:xfrm>
            <a:off x="2377440" y="4983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 ·  Year 5 target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7440" y="5257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$420M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863840" y="1828800"/>
            <a:ext cx="3749040" cy="4206240"/>
          </a:xfrm>
          <a:prstGeom prst="rect">
            <a:avLst/>
          </a:prstGeom>
          <a:solidFill>
            <a:srgbClr val="0F0A1A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1965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B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0" y="2377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046720" y="2788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through 2030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0" y="3291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046720" y="3703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millennials prefer rentals over hotels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4206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046720" y="4617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hosts considered leaving incumbents in 2024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0" y="5120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3.4M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046720" y="5532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listings — half the global active supply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Skift Research, AirDNA, Statista (2025).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A8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surfaces, one experience.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7432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5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011680"/>
            <a:ext cx="2743200" cy="109728"/>
          </a:xfrm>
          <a:prstGeom prst="rect">
            <a:avLst/>
          </a:prstGeom>
          <a:solidFill>
            <a:srgbClr val="E11D7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71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site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homepage, content, and SEO at vaytoven.com.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4937760"/>
            <a:ext cx="2194560" cy="0"/>
          </a:xfrm>
          <a:prstGeom prst="line">
            <a:avLst/>
          </a:prstGeom>
          <a:noFill/>
          <a:ln w="12700">
            <a:solidFill>
              <a:srgbClr val="EEE5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029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" y="53492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discovering us.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56432" y="2011680"/>
            <a:ext cx="27432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5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56432" y="2011680"/>
            <a:ext cx="2743200" cy="109728"/>
          </a:xfrm>
          <a:prstGeom prst="rect">
            <a:avLst/>
          </a:prstGeom>
          <a:solidFill>
            <a:srgbClr val="E11D7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233172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30752" y="2971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730752" y="34290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book, host, message, review.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730752" y="4937760"/>
            <a:ext cx="2194560" cy="0"/>
          </a:xfrm>
          <a:prstGeom prst="line">
            <a:avLst/>
          </a:prstGeom>
          <a:noFill/>
          <a:ln w="12700">
            <a:solidFill>
              <a:srgbClr val="EEE5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730752" y="5029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730752" y="53492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guests and hosts.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364224" y="2011680"/>
            <a:ext cx="27432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5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364224" y="2011680"/>
            <a:ext cx="2743200" cy="109728"/>
          </a:xfrm>
          <a:prstGeom prst="rect">
            <a:avLst/>
          </a:prstGeom>
          <a:solidFill>
            <a:srgbClr val="E11D74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233172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38544" y="2971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+ Android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6638544" y="34290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apps for the on-the-go traveler.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638544" y="4937760"/>
            <a:ext cx="2194560" cy="0"/>
          </a:xfrm>
          <a:prstGeom prst="line">
            <a:avLst/>
          </a:prstGeom>
          <a:noFill/>
          <a:ln w="12700">
            <a:solidFill>
              <a:srgbClr val="EEE5F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638544" y="5029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638544" y="53492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from a phone (most users).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9272016" y="2011680"/>
            <a:ext cx="27432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5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272016" y="2011680"/>
            <a:ext cx="2743200" cy="109728"/>
          </a:xfrm>
          <a:prstGeom prst="rect">
            <a:avLst/>
          </a:prstGeom>
          <a:solidFill>
            <a:srgbClr val="E11D74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36" y="2331720"/>
            <a:ext cx="502920" cy="5029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546336" y="2971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</a:t>
            </a:r>
            <a:endParaRPr lang="en-US" sz="1700" dirty="0"/>
          </a:p>
        </p:txBody>
      </p:sp>
      <p:sp>
        <p:nvSpPr>
          <p:cNvPr id="32" name="Text 26"/>
          <p:cNvSpPr/>
          <p:nvPr/>
        </p:nvSpPr>
        <p:spPr>
          <a:xfrm>
            <a:off x="9546336" y="34290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Moderation, payouts, disputes, security review.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9546336" y="4937760"/>
            <a:ext cx="2194560" cy="0"/>
          </a:xfrm>
          <a:prstGeom prst="line">
            <a:avLst/>
          </a:prstGeom>
          <a:noFill/>
          <a:ln w="12700">
            <a:solidFill>
              <a:srgbClr val="EEE5F0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9546336" y="5029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9546336" y="53492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safety + ops team.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A8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TARGET USERS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sides. Both underserved.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86400" cy="4389120"/>
          </a:xfrm>
          <a:prstGeom prst="rect">
            <a:avLst/>
          </a:prstGeom>
          <a:solidFill>
            <a:srgbClr val="FAF7FB"/>
          </a:solidFill>
          <a:ln w="12700">
            <a:solidFill>
              <a:srgbClr val="EEE5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945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2194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PERSONA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“Mia, 31. Picks places, not platforms.”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329184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$90k–$140k.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3–5 leisure trips/year, $1.8k average spend.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Burned once by a misleading listing — won't risk again.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on her phone. Will pay a premium for trust.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 are the #1 source of where to book.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26480" y="1920240"/>
            <a:ext cx="5486400" cy="4389120"/>
          </a:xfrm>
          <a:prstGeom prst="rect">
            <a:avLst/>
          </a:prstGeom>
          <a:solidFill>
            <a:srgbClr val="0F0A1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9456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2194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B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PERSONA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400800" y="2697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“Darius, 44. Has 2–5 doors. Tired of slow money.”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400800" y="329184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B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$70k–$220k annual STR revenue.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B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lists on Airbnb + Vrbo — wants a third channel.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B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 about: take rate, payout speed, support quality.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B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switch primary platform for a better deal once trust is earned.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B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Word-of-mouth in host Facebook groups drives most adoption.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A8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KEY FEATURES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ships at MVP.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94560"/>
            <a:ext cx="502920" cy="502920"/>
          </a:xfrm>
          <a:prstGeom prst="ellipse">
            <a:avLst/>
          </a:prstGeom>
          <a:solidFill>
            <a:srgbClr val="FCE4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29514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848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+ filter search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17320" y="24231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Sub-800 ms p95, with PostGIS geo.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192024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5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2194560"/>
            <a:ext cx="502920" cy="502920"/>
          </a:xfrm>
          <a:prstGeom prst="ellipse">
            <a:avLst/>
          </a:prstGeom>
          <a:solidFill>
            <a:srgbClr val="FCE4F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229514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20848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+ pricing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257800" y="24231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Per-night overrides, weekly/monthly discounts.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29600" y="192024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5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2480" y="2194560"/>
            <a:ext cx="502920" cy="502920"/>
          </a:xfrm>
          <a:prstGeom prst="ellipse">
            <a:avLst/>
          </a:prstGeom>
          <a:solidFill>
            <a:srgbClr val="FCE4F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229514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98280" y="20848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checkout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9098280" y="242316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PCI-SAQ-A scope. Apple/Google Pay supported.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33756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5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1520" y="3611880"/>
            <a:ext cx="502920" cy="502920"/>
          </a:xfrm>
          <a:prstGeom prst="ellipse">
            <a:avLst/>
          </a:prstGeom>
          <a:solidFill>
            <a:srgbClr val="FCE4F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371246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5021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payouts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417320" y="384048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Connect Express. Failures surfaced in-product.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89120" y="333756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5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2000" y="3611880"/>
            <a:ext cx="502920" cy="502920"/>
          </a:xfrm>
          <a:prstGeom prst="ellipse">
            <a:avLst/>
          </a:prstGeom>
          <a:solidFill>
            <a:srgbClr val="FCE4F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3712464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57800" y="35021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security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257800" y="384048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scoring, suspicious-login detection, session list.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229600" y="333756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5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12480" y="3611880"/>
            <a:ext cx="502920" cy="502920"/>
          </a:xfrm>
          <a:prstGeom prst="ellipse">
            <a:avLst/>
          </a:prstGeom>
          <a:solidFill>
            <a:srgbClr val="FCE4F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3064" y="3712464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98280" y="35021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Double-blind reviews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9098280" y="384048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window. Both sides write before either sees.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548640" y="475488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5F0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731520" y="5029200"/>
            <a:ext cx="502920" cy="502920"/>
          </a:xfrm>
          <a:prstGeom prst="ellipse">
            <a:avLst/>
          </a:prstGeom>
          <a:solidFill>
            <a:srgbClr val="FCE4F1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" y="5129784"/>
            <a:ext cx="301752" cy="30175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417320" y="49194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+ masking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1417320" y="52578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Booking-tied threads. Phones and URLs masked pre-booking.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4389120" y="475488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5F0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4572000" y="5029200"/>
            <a:ext cx="502920" cy="502920"/>
          </a:xfrm>
          <a:prstGeom prst="ellipse">
            <a:avLst/>
          </a:prstGeom>
          <a:solidFill>
            <a:srgbClr val="FCE4F1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2584" y="5129784"/>
            <a:ext cx="301752" cy="30175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257800" y="49194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moderation</a:t>
            </a:r>
            <a:endParaRPr lang="en-US" sz="1400" dirty="0"/>
          </a:p>
        </p:txBody>
      </p:sp>
      <p:sp>
        <p:nvSpPr>
          <p:cNvPr id="43" name="Text 33"/>
          <p:cNvSpPr/>
          <p:nvPr/>
        </p:nvSpPr>
        <p:spPr>
          <a:xfrm>
            <a:off x="5257800" y="52578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approval queue, dispute resolution, audit log.</a:t>
            </a:r>
            <a:endParaRPr lang="en-US" sz="1100" dirty="0"/>
          </a:p>
        </p:txBody>
      </p:sp>
      <p:sp>
        <p:nvSpPr>
          <p:cNvPr id="44" name="Shape 34"/>
          <p:cNvSpPr/>
          <p:nvPr/>
        </p:nvSpPr>
        <p:spPr>
          <a:xfrm>
            <a:off x="8229600" y="475488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5F0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8412480" y="5029200"/>
            <a:ext cx="502920" cy="502920"/>
          </a:xfrm>
          <a:prstGeom prst="ellipse">
            <a:avLst/>
          </a:prstGeom>
          <a:solidFill>
            <a:srgbClr val="FCE4F1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13064" y="5129784"/>
            <a:ext cx="301752" cy="301752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9098280" y="49194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 + Android</a:t>
            </a:r>
            <a:endParaRPr lang="en-US" sz="1400" dirty="0"/>
          </a:p>
        </p:txBody>
      </p:sp>
      <p:sp>
        <p:nvSpPr>
          <p:cNvPr id="48" name="Text 37"/>
          <p:cNvSpPr/>
          <p:nvPr/>
        </p:nvSpPr>
        <p:spPr>
          <a:xfrm>
            <a:off x="9098280" y="52578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backend, same fees, same speed.</a:t>
            </a:r>
            <a:endParaRPr lang="en-US" sz="1100" dirty="0"/>
          </a:p>
        </p:txBody>
      </p:sp>
      <p:sp>
        <p:nvSpPr>
          <p:cNvPr id="49" name="Text 38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A8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BUSINESS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smaller cut. Take it from both sides.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A2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booking: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86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5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774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Vaytoven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host fee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guest service fee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14% blended take rate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payout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4800600"/>
            <a:ext cx="4937760" cy="0"/>
          </a:xfrm>
          <a:prstGeom prst="line">
            <a:avLst/>
          </a:prstGeom>
          <a:noFill/>
          <a:ln w="12700">
            <a:solidFill>
              <a:srgbClr val="DDD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937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per booking: $98 / booking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5486400" cy="3200400"/>
          </a:xfrm>
          <a:prstGeom prst="rect">
            <a:avLst/>
          </a:prstGeom>
          <a:solidFill>
            <a:srgbClr val="FAF7FB"/>
          </a:solidFill>
          <a:ln w="12700">
            <a:solidFill>
              <a:srgbClr val="EEE5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3774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incumbent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92240" y="283464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14–16% host fee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0–6% guest service fee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14–20% blended take rate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day payout hold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92240" y="4800600"/>
            <a:ext cx="4937760" cy="0"/>
          </a:xfrm>
          <a:prstGeom prst="line">
            <a:avLst/>
          </a:prstGeom>
          <a:noFill/>
          <a:ln w="12700">
            <a:solidFill>
              <a:srgbClr val="DDD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9377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per booking: $112 / booking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A2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headline rate. Same dollar take. Higher host conversion.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A8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COMPETITIVE ADVANTAGE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defensible.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109728" cy="1920240"/>
          </a:xfrm>
          <a:prstGeom prst="rect">
            <a:avLst/>
          </a:prstGeom>
          <a:solidFill>
            <a:srgbClr val="E11D7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3317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2860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supply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45920" y="27889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at MVP keeps the bar high. We control the experience the way Booking.com cannot.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201168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5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0" y="2011680"/>
            <a:ext cx="109728" cy="1920240"/>
          </a:xfrm>
          <a:prstGeom prst="rect">
            <a:avLst/>
          </a:prstGeom>
          <a:solidFill>
            <a:srgbClr val="E11D7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3317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2860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of money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315200" y="27889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payouts are an operational moat. Hosts switch primaries to chase cashflow.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11480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5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4114800"/>
            <a:ext cx="109728" cy="1920240"/>
          </a:xfrm>
          <a:prstGeom prst="rect">
            <a:avLst/>
          </a:prstGeom>
          <a:solidFill>
            <a:srgbClr val="E11D7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43484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389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Take-rate moat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645920" y="489204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we anchor at 3% host fee, incumbents can't follow without cratering their own margin.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411480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5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217920" y="4114800"/>
            <a:ext cx="109728" cy="1920240"/>
          </a:xfrm>
          <a:prstGeom prst="rect">
            <a:avLst/>
          </a:prstGeom>
          <a:solidFill>
            <a:srgbClr val="E11D7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43484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389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loop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315200" y="489204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hosts → fewer disputes → better reviews → cheaper acquisition. The flywheel runs to Vaytoven.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A8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REVENUE STREAMS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comes from.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59436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858000" y="196596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13816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fees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38160" y="23774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host + 11% guest. The core engine.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58000" y="301752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13816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host subscription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138160" y="34290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$24/mo. Multi-listing tools, smart pricing, co-host invites.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0" y="4069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813816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protection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38160" y="44805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 average per stay. Reinsured. High margin.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58000" y="51206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8138160" y="5166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placement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138160" y="55321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Cost-per-click promoted listings. Capped to protect ranking quality.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A8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GO-TO-MARKET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one geography. Then expand.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1463040" cy="1280160"/>
          </a:xfrm>
          <a:prstGeom prst="rect">
            <a:avLst/>
          </a:prstGeom>
          <a:solidFill>
            <a:srgbClr val="E11D7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0–6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94560" y="20848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coastal cluster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194560" y="2487168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 → Orlando → Tampa → Destin. Concierge-onboard 200 hosts. Hand-pick listings. Goal: 1,000 bookings, NPS 50+, single-market unit economics proven.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11064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383280"/>
            <a:ext cx="1463040" cy="1280160"/>
          </a:xfrm>
          <a:prstGeom prst="rect">
            <a:avLst/>
          </a:prstGeom>
          <a:solidFill>
            <a:srgbClr val="E11D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566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886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6–12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94560" y="354787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Sunbelt expansion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194560" y="3950208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Nashville, Asheville, Charleston, Sedona, Austin. Inbound applications open. Paid social on traveler intent + organic from host word-of-mouth.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11064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846320"/>
            <a:ext cx="1463040" cy="1280160"/>
          </a:xfrm>
          <a:prstGeom prst="rect">
            <a:avLst/>
          </a:prstGeom>
          <a:solidFill>
            <a:srgbClr val="E11D7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029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53492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12–24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194560" y="501091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rollout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194560" y="5413248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50 U.S. STR markets. Brand campaign. Two-sided referral program. Series A on the back of repeat-rate and CAC payback &lt; 8 months.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A8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TECHNOLOGY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Boring stack, on purpose.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57600" cy="2011680"/>
          </a:xfrm>
          <a:prstGeom prst="rect">
            <a:avLst/>
          </a:prstGeom>
          <a:solidFill>
            <a:srgbClr val="FAF7FB"/>
          </a:solidFill>
          <a:ln w="12700">
            <a:solidFill>
              <a:srgbClr val="EEE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EE5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24942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148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7889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(marketing)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+ Blade + Vue (web)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 (iOS), Compose (Android)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1920240"/>
            <a:ext cx="3657600" cy="2011680"/>
          </a:xfrm>
          <a:prstGeom prst="rect">
            <a:avLst/>
          </a:prstGeom>
          <a:solidFill>
            <a:srgbClr val="FAF7FB"/>
          </a:solidFill>
          <a:ln w="12700">
            <a:solidFill>
              <a:srgbClr val="EEE5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21488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EE5F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224942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2148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17720" y="27889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8.3 / Laravel 11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 + PostGIS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7, Horizon queues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29600" y="1920240"/>
            <a:ext cx="3657600" cy="2011680"/>
          </a:xfrm>
          <a:prstGeom prst="rect">
            <a:avLst/>
          </a:prstGeom>
          <a:solidFill>
            <a:srgbClr val="FAF7FB"/>
          </a:solidFill>
          <a:ln w="12700">
            <a:solidFill>
              <a:srgbClr val="EEE5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58200" y="21488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EE5F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224942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0" y="2148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58200" y="278892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+ Stripe Connect Express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Pay / Google Pay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signed webhooks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3657600" cy="2011680"/>
          </a:xfrm>
          <a:prstGeom prst="rect">
            <a:avLst/>
          </a:prstGeom>
          <a:solidFill>
            <a:srgbClr val="FAF7FB"/>
          </a:solidFill>
          <a:ln w="12700">
            <a:solidFill>
              <a:srgbClr val="EEE5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EE5F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44398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343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77240" y="4983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ASVS 4.0 baseline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 passwords + optional TOTP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IP-derived geolocation only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89120" y="4114800"/>
            <a:ext cx="3657600" cy="2011680"/>
          </a:xfrm>
          <a:prstGeom prst="rect">
            <a:avLst/>
          </a:prstGeom>
          <a:solidFill>
            <a:srgbClr val="FAF7FB"/>
          </a:solidFill>
          <a:ln w="12700">
            <a:solidFill>
              <a:srgbClr val="EEE5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17720" y="43434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EE5F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04" y="4443984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4343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617720" y="4983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(ECS Fargate, RDS, S3)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WAF + CDN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Terraform-managed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229600" y="4114800"/>
            <a:ext cx="3657600" cy="2011680"/>
          </a:xfrm>
          <a:prstGeom prst="rect">
            <a:avLst/>
          </a:prstGeom>
          <a:solidFill>
            <a:srgbClr val="FAF7FB"/>
          </a:solidFill>
          <a:ln w="12700">
            <a:solidFill>
              <a:srgbClr val="EEE5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58200" y="43434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EE5F0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8784" y="4443984"/>
            <a:ext cx="301752" cy="30175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44000" y="4343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458200" y="49834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Sentry, Datadog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logs to CloudWatch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traces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A8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ROADMAP &amp; FINANCIALS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weeks to launch. Five-year plan to category leadership.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6A2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roadmap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1064240" cy="36576"/>
          </a:xfrm>
          <a:prstGeom prst="rect">
            <a:avLst/>
          </a:prstGeom>
          <a:solidFill>
            <a:srgbClr val="E11D74"/>
          </a:solidFill>
          <a:ln/>
        </p:spPr>
      </p:sp>
      <p:sp>
        <p:nvSpPr>
          <p:cNvPr id="6" name="Shape 4"/>
          <p:cNvSpPr/>
          <p:nvPr/>
        </p:nvSpPr>
        <p:spPr>
          <a:xfrm>
            <a:off x="1351788" y="2505456"/>
            <a:ext cx="237744" cy="237744"/>
          </a:xfrm>
          <a:prstGeom prst="ellipse">
            <a:avLst/>
          </a:prstGeom>
          <a:solidFill>
            <a:srgbClr val="E11D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626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1–2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626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+ design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95828" y="2505456"/>
            <a:ext cx="237744" cy="237744"/>
          </a:xfrm>
          <a:prstGeom prst="ellipse">
            <a:avLst/>
          </a:prstGeom>
          <a:solidFill>
            <a:srgbClr val="E11D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0030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3–6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0030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backend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39868" y="2505456"/>
            <a:ext cx="237744" cy="237744"/>
          </a:xfrm>
          <a:prstGeom prst="ellipse">
            <a:avLst/>
          </a:prstGeom>
          <a:solidFill>
            <a:srgbClr val="E11D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4434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7–10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4434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frontend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83908" y="2505456"/>
            <a:ext cx="237744" cy="237744"/>
          </a:xfrm>
          <a:prstGeom prst="ellipse">
            <a:avLst/>
          </a:prstGeom>
          <a:solidFill>
            <a:srgbClr val="E11D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838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11–14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8838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727948" y="2505456"/>
            <a:ext cx="237744" cy="237744"/>
          </a:xfrm>
          <a:prstGeom prst="ellipse">
            <a:avLst/>
          </a:prstGeom>
          <a:solidFill>
            <a:srgbClr val="E11D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3242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15–18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93242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+ admin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571988" y="2505456"/>
            <a:ext cx="237744" cy="237744"/>
          </a:xfrm>
          <a:prstGeom prst="ellipse">
            <a:avLst/>
          </a:prstGeom>
          <a:solidFill>
            <a:srgbClr val="E11D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7646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19–22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77646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+ launch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749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6A2C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projection ($M)</a:t>
            </a:r>
            <a:endParaRPr lang="en-US" sz="14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548640" y="4114800"/>
          <a:ext cx="77724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Shape 23"/>
          <p:cNvSpPr/>
          <p:nvPr/>
        </p:nvSpPr>
        <p:spPr>
          <a:xfrm>
            <a:off x="8595360" y="4114800"/>
            <a:ext cx="3017520" cy="2286000"/>
          </a:xfrm>
          <a:prstGeom prst="rect">
            <a:avLst/>
          </a:prstGeom>
          <a:solidFill>
            <a:srgbClr val="0F0A1A"/>
          </a:solidFill>
          <a:ln/>
        </p:spPr>
      </p:sp>
      <p:sp>
        <p:nvSpPr>
          <p:cNvPr id="27" name="Text 24"/>
          <p:cNvSpPr/>
          <p:nvPr/>
        </p:nvSpPr>
        <p:spPr>
          <a:xfrm>
            <a:off x="873252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B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732520" y="4526280"/>
            <a:ext cx="2743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$285 avg booking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blended take rate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Y1: 2.1k bookings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Y3: 450k bookings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 &lt; 8 mo by Y2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A8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8229600" cy="8229600"/>
          </a:xfrm>
          <a:prstGeom prst="ellipse">
            <a:avLst/>
          </a:prstGeom>
          <a:solidFill>
            <a:srgbClr val="6A2C91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-2743200"/>
            <a:ext cx="7315200" cy="7315200"/>
          </a:xfrm>
          <a:prstGeom prst="ellipse">
            <a:avLst/>
          </a:prstGeom>
          <a:solidFill>
            <a:srgbClr val="E11D74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640080"/>
            <a:ext cx="640080" cy="640080"/>
          </a:xfrm>
          <a:prstGeom prst="ellipse">
            <a:avLst/>
          </a:prstGeom>
          <a:solidFill>
            <a:srgbClr val="E11D7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640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VAYTOVEN  ·  RENTALS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place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i="1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anywhere.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914400" y="4023360"/>
            <a:ext cx="1033272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E11D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11D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4434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$1.8M seed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188720" y="4983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B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 runway  ·  Build MVP, launch Florida cluster, prove unit economics ahead of Series A.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5852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Vaytoven  ·  Founder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B5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hello@vaytoven.com  ·  vaytoven.com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A8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Vaytoven Rentals — Investor Pitch</dc:title>
  <dc:subject>PptxGenJS Presentation</dc:subject>
  <dc:creator>Vaytoven Rentals LLC</dc:creator>
  <cp:lastModifiedBy>Vaytoven Rentals LLC</cp:lastModifiedBy>
  <cp:revision>1</cp:revision>
  <dcterms:created xsi:type="dcterms:W3CDTF">2026-04-27T19:56:00Z</dcterms:created>
  <dcterms:modified xsi:type="dcterms:W3CDTF">2026-04-27T19:56:00Z</dcterms:modified>
</cp:coreProperties>
</file>